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33672"/>
            <a:ext cx="12191695" cy="36576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OpenEMPIRE — North Sea Extension</a:t>
            </a:r>
          </a:p>
          <a:p>
            <a:r>
              <a:rPr sz="2000" b="0" i="0">
                <a:solidFill>
                  <a:srgbClr val="C9D2E0"/>
                </a:solidFill>
                <a:latin typeface="Calibri"/>
              </a:rPr>
              <a:t>From the original capacity-expansion model to a performance-tuned North Sea build with offshore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7A2B"/>
                </a:solidFill>
                <a:latin typeface="Calibri"/>
              </a:rPr>
              <a:t>Ehsan Nokandi</a:t>
            </a:r>
          </a:p>
          <a:p>
            <a:r>
              <a:rPr sz="1400" b="0" i="0">
                <a:solidFill>
                  <a:srgbClr val="A9B4C4"/>
                </a:solidFill>
                <a:latin typeface="Calibri"/>
              </a:rPr>
              <a:t>Summary of upstream EMPIRE and the North Sea modifications in this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ORIGINAL MODEL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What is EMPIRE?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A stochastic capacity-expansion model for the European power system, formulated in Pyomo (open-source, MIT-licensed).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Co-optimizes long-run investment and short-run operation under uncertainty to minimize total discounted system cost.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Two-stage stochastic program: investment decisions per strategic period, operational decisions across sampled scenarios.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Multi-horizon: strategic investment periods (e.g. every 5 years to 2060) each containing representative operational seasons + peak hours.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Solved with a third-party LP solver (Gurobi / Xpress / CPLEX); a full run needs an HPC (~140 GB RAM).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ORIGINAL MODEL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How the model is structured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run.py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Single entry point the user runs; selects a dataset and config.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7276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empire.py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Abstract Pyomo formulation: sets, variables, constraints, objective, and result printing.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6304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7276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reader.py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Builds .tab input files from the Excel workbooks in 'Data handler'.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scenario_random.py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Samples representative time series into stochastic operational scenarios.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10896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0896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1868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config.py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Configuration objects driven by config/run.yaml.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10896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10896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1868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model_runner.py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Wires config, data managers and the solve together.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Inputs: 7 Excel workbooks per dataset (general, generation, node, sets, transmission, storage) → .tab files → Pyomo model. Outputs: CSV results + optional IAMC-format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WHY CHANGE IT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Motivation for the 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Goal: model the North Sea region in detail — countries NO, DK, UK, NL and DE, with explicit offshore (wind) nodes and the offshore grid linking them.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Base EMPIRE had no proper handling of offshore nodes — it crashed on datasets where offshore nodes were absent or empty.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IAMC result export produced incorrect / incomplete output for the North Sea nodes and technologies.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Large North Sea runs solved very slowly in Gurobi, motivating dedicated solver performance work.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Need: handle offshore nodes robustly, diagnose infeasibilities, and accelerate the solve without changing the physics.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WHAT I DID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Overview of my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18 commits ahead of upstream — ~370 lines of core model code; the rest is North Sea data, analysis notebooks and tooling.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28016" cy="841248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37944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1  North Sea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37944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NO/DK/UK/NL/DE with offshore nodes; safe loading when a dataset has no offshore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15768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15768"/>
            <a:ext cx="128016" cy="8412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2  IAMC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70632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Correct region &amp; generator mappings; optional offshore→onshore aggregation.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48456"/>
            <a:ext cx="128016" cy="841248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3  Solver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033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Configurable Gurobi options, emission-cap reformulation, ramping toggle.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81144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581144"/>
            <a:ext cx="128016" cy="8412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360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4 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3600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Infeasibility detection + IIS export; fixed CO2-price output bug.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13832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513832"/>
            <a:ext cx="128016" cy="841248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6869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5  Tooling &amp; 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568696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Result-analysis scripts/notebooks; pinned Python 3.11 env.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1 — North Sea region &amp; offshore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Added a North Sea case covering NO, DK, UK, NL and DE, with explicit offshore (wind) nodes representing the offshore grid.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Added a north_sea mode and offshore-node handling in empire.py (new OffshoreNode set).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Sets_OffshoreNode.tab is now loaded only if it exists and is non-empty — fixes a crash on datasets with no offshore nodes.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New North Sea input dataset under Data handler/north_sea.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Reader / tab-file generation updated to emit offshore sets correctly.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1B8A8F"/>
                </a:solidFill>
                <a:latin typeface="Consolas"/>
              </a:rPr>
              <a:t>Files: empire/core/empire.py, empire/core/reader.py, Data handler/north_sea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2 — IAMC output 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IAMC = standard reporting format for integrated-assessment / energy scenarios; EMPIRE can export results in it.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Fixed region mapping for the new North Sea nodes, with a fallback for unknown nodes instead of failing.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Fixed generator-name mapping: added spaced-name variants ("Wind offshore floating/grounded" → Wind|Offshore) and missing LigniteCCS / BioCCS.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Collapsed technology-specific emission rows into the aggregate electricity-CO2 row.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New optional flag aggregate_offshore_nodes_in_IAMC: maps each offshore node to its nearest onshore region (by coordinates) in the IAMC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1B8A8F"/>
                </a:solidFill>
                <a:latin typeface="Consolas"/>
              </a:rPr>
              <a:t>Files: empire/core/empire.py (IAMC block), config/run.yaml, config.py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 — Solver performance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•  Configurable Gurobi options plumbed config.py → model_runner.py → empire.py: Method, Crossover, Presolve, Threads, ScaleFlag, NumericFocus, BarHomogeneous.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–  Defaults enable the accelerators (barrier, crossover off, aggressive presolve); robustness 'brakes' are off by default and documented as enable-on-failure only.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•  Emission-cap reformulation: replaced one dense all-generators constraint row (which injected 5e-08 coefficients via /1e6) with per-node nodeEmission variables in tonnes — kills barrier fill-in and the bad matrix range.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–  Dual / CO2-price reporting updated to match the new formulation.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•  use_ramping toggle: optionally drop thermal inter-hour ramp constraints to reduce temporal coupling.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 · CODE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3a — Configurable Gurobi solver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Solver tuning was hard-coded. It is now exposed end-to-end so each run can be tuned from config/run.yaml without touching the model: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468880" cy="45720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config/run.yaml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74519"/>
            <a:ext cx="246888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config.py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2468880" cy="45720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model_runner.py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874519"/>
            <a:ext cx="246888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empire.py → Gurobi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97480"/>
            <a:ext cx="5394960" cy="137160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734056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8AD8C8"/>
                </a:solidFill>
                <a:latin typeface="Consolas"/>
              </a:rPr>
              <a:t>Before — hard-coded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081528"/>
            <a:ext cx="50657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 i="0">
                <a:solidFill>
                  <a:srgbClr val="E6E9EF"/>
                </a:solidFill>
                <a:latin typeface="Consolas"/>
              </a:rPr>
              <a:t>opt.options["Crossover"] = 0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E6E9EF"/>
                </a:solidFill>
                <a:latin typeface="Consolas"/>
              </a:rPr>
              <a:t>opt.options["Method"]    =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697480"/>
            <a:ext cx="5394960" cy="310896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734056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8AD8C8"/>
                </a:solidFill>
                <a:latin typeface="Consolas"/>
              </a:rPr>
              <a:t>After — configurable (config-driven)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081528"/>
            <a:ext cx="506577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opt.options["Method"] = solver_method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solver_crossover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opt.options["Crossover"]   = solver_crossover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solver_presolve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opt.options["Presolve"]    = solver_presolve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solver_threads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opt.options["Threads"]     = solver_threads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solver_scaleflag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opt.options["ScaleFlag"]   = solver_scaleflag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solver_numericfocus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opt.options["NumericFocus"]= solver_numericfocus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solver_barhomogeneous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opt.options["BarHomogeneous"]= solver_barhomogeneous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•  Accelerators (defaults): Method=2 (barrier), Crossover=0 (skip the tail), Presolve=2 (aggressive).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•  Brakes (off by default): ScaleFlag, NumericFocus, BarHomogeneous — robustness options that slow Gurobi; enable only on numerical 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 · MATH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3b — Emission cap constraint (original)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One constraint per investment period i and scenario w, summing over every generator and every operational hour: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1069848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91440" cy="13716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2A44"/>
                </a:solidFill>
                <a:latin typeface="Cambria Math"/>
              </a:rPr>
              <a:t>(1 / 10</a:t>
            </a:r>
            <a:r>
              <a:rPr sz="1189" b="1" i="0" baseline="30000">
                <a:solidFill>
                  <a:srgbClr val="1F2A44"/>
                </a:solidFill>
                <a:latin typeface="Cambria Math"/>
              </a:rPr>
              <a:t>6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) · Σ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(n,g)∈GoN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 Σ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(s,h)∈HoS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  ρ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s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 · φ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g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 · (3.6 / η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g,i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) · p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n,g,h,i,w</a:t>
            </a:r>
            <a:r>
              <a:rPr sz="1700" b="1" i="0">
                <a:solidFill>
                  <a:srgbClr val="1F2A44"/>
                </a:solidFill>
                <a:latin typeface="Cambria Math"/>
              </a:rPr>
              <a:t>   ≤   C</a:t>
            </a:r>
            <a:r>
              <a:rPr sz="1189" b="1" i="0" baseline="-25000">
                <a:solidFill>
                  <a:srgbClr val="1F2A44"/>
                </a:solidFill>
                <a:latin typeface="Cambria Math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55B66"/>
                </a:solidFill>
                <a:latin typeface="Cambria Math"/>
              </a:rPr>
              <a:t>∀ i ∈ I  (periods),   w ∈ W  (scenarios)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•  p (genOperational) = production; ρ = season scaling; φ = CO₂ factor; η = efficiency; C = CO₂ cap (Mt).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•  Problem 1 — dense row: one row touches every (generator × hour) variable → hundreds of thousands of nonzeros in a single row.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•  Problem 2 — bad scaling: the 1/10⁶ (Mt) factor puts ~5e-08 coefficients in the matrix, widening the range to [5e-08, 1e+01].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•  Dense rows wreck the barrier Cholesky factorization (fill-in); wide ranges trigger Gurobi numerical-conditioning warnings.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 · MATH + CODE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3c — Emission cap reformulation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Introduce a per-node emission variable E (tonnes); split the dense row into sparse per-node rows + a small cap row, and move 10⁶ to the right-hand side: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91440" cy="9601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7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B8A8F"/>
                </a:solidFill>
                <a:latin typeface="Cambria Math"/>
              </a:rPr>
              <a:t>Definition (sparse, per node):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A44"/>
                </a:solidFill>
                <a:latin typeface="Cambria Math"/>
              </a:rPr>
              <a:t>E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n,i,w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  =  Σ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g:(n,g)∈GoN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 Σ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(s,h)∈HoS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  ρ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s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 · φ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g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 · (3.6 / η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g,i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) · p</a:t>
            </a:r>
            <a:r>
              <a:rPr sz="1050" b="1" i="0" baseline="-25000">
                <a:solidFill>
                  <a:srgbClr val="1F2A44"/>
                </a:solidFill>
                <a:latin typeface="Cambria Math"/>
              </a:rPr>
              <a:t>n,g,h,i,w</a:t>
            </a:r>
            <a:r>
              <a:rPr sz="1500" b="1" i="0">
                <a:solidFill>
                  <a:srgbClr val="1F2A44"/>
                </a:solidFill>
                <a:latin typeface="Cambria Math"/>
              </a:rPr>
              <a:t>        ∀ n ∈ N, i ∈ I, w ∈ 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1088136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91440" cy="86868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B8A8F"/>
                </a:solidFill>
                <a:latin typeface="Cambria Math"/>
              </a:rPr>
              <a:t>Cap (sparse, |N| terms):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Cambria Math"/>
              </a:rPr>
              <a:t>Σ</a:t>
            </a:r>
            <a:r>
              <a:rPr sz="1120" b="1" i="0" baseline="-25000">
                <a:solidFill>
                  <a:srgbClr val="1F2A44"/>
                </a:solidFill>
                <a:latin typeface="Cambria Math"/>
              </a:rPr>
              <a:t>n∈N</a:t>
            </a:r>
            <a:r>
              <a:rPr sz="1600" b="1" i="0">
                <a:solidFill>
                  <a:srgbClr val="1F2A44"/>
                </a:solidFill>
                <a:latin typeface="Cambria Math"/>
              </a:rPr>
              <a:t> E</a:t>
            </a:r>
            <a:r>
              <a:rPr sz="1120" b="1" i="0" baseline="-25000">
                <a:solidFill>
                  <a:srgbClr val="1F2A44"/>
                </a:solidFill>
                <a:latin typeface="Cambria Math"/>
              </a:rPr>
              <a:t>n,i,w</a:t>
            </a:r>
            <a:r>
              <a:rPr sz="1600" b="1" i="0">
                <a:solidFill>
                  <a:srgbClr val="1F2A44"/>
                </a:solidFill>
                <a:latin typeface="Cambria Math"/>
              </a:rPr>
              <a:t>   ≤   10</a:t>
            </a:r>
            <a:r>
              <a:rPr sz="1120" b="1" i="0" baseline="30000">
                <a:solidFill>
                  <a:srgbClr val="1F2A44"/>
                </a:solidFill>
                <a:latin typeface="Cambria Math"/>
              </a:rPr>
              <a:t>6</a:t>
            </a:r>
            <a:r>
              <a:rPr sz="1600" b="1" i="0">
                <a:solidFill>
                  <a:srgbClr val="1F2A44"/>
                </a:solidFill>
                <a:latin typeface="Cambria Math"/>
              </a:rPr>
              <a:t> · C</a:t>
            </a:r>
            <a:r>
              <a:rPr sz="1120" b="1" i="0" baseline="-25000">
                <a:solidFill>
                  <a:srgbClr val="1F2A44"/>
                </a:solidFill>
                <a:latin typeface="Cambria Math"/>
              </a:rPr>
              <a:t>i</a:t>
            </a:r>
            <a:r>
              <a:rPr sz="1600" b="1" i="0">
                <a:solidFill>
                  <a:srgbClr val="1F2A44"/>
                </a:solidFill>
                <a:latin typeface="Cambria Math"/>
              </a:rPr>
              <a:t>          ∀ i ∈ I,  w ∈ 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10881360" cy="141732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14215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8AD8C8"/>
                </a:solidFill>
                <a:latin typeface="Consolas"/>
              </a:rPr>
              <a:t>empire.py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361687"/>
            <a:ext cx="1055217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model.nodeEmission = Var(model.Node, model.PeriodActive, model.Scenario, domain=Reals)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def emission_cap_rule(model, i, w):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return sum(model.nodeEmission[n,i,w] for n in model.Node) - 1e6*model.CO2cap[i] &lt;=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864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•  Each E-definition row is sparse (only that node's generators); the cap row has just |N| entries — no dense row, no barrier fill-in.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•  Moving 10⁶ to the RHS removes the 5e-08 coefficients → matrix range back to [1e-03, 1e+01]. Domain = Reals (CCS gives negative CO₂; cap can go negative).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•  Dual / CO₂-price reporting updated to match (the *1e6 divisor removed).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 — What the performance analysis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B8A8F"/>
                </a:solidFill>
                <a:latin typeface="Calibri"/>
              </a:rPr>
              <a:t>Diagnosis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Barrier solve is fast; the crossover tail dominated — 9–10× the barrier time (millions of pivots).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Wide matrix range [5e-08, …] came from the /1e6 in the emission cap, not from the input data (the tiny-value hypothesis was ruled out).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One dense emission-cap row per (period, scenario) → catastrophic fill-in in the barrier Cholesky factor.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Stacking NumericFocus / BarHomogeneous added 'brakes' that slowed large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7A2B"/>
                </a:solidFill>
                <a:latin typeface="Calibri"/>
              </a:rPr>
              <a:t>Fixes applied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Crossover = 0 → removes the 9–10× tail (interior solution).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Method = 2 (barrier) + aggressive presolve.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Emission cap expressed in tonnes → removes 5e-08 and the dense row.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Brakes reverted to defaults; documented to enable only on numerical failure.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All reasoning captured in PERF_HANDOFF.md (incl. a stale editable-install gotcha on the cluster).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4 — Robustness &amp;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Infeasibility handling: on an 'infeasible' termination the model now writes an .lp file and computes an IIS (Irreducible Infeasible Subsystem).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Uses the gurobipy API with a gurobi_cl subprocess fallback — so a failed run produces a diagnosable file instead of just crashing.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Feasibility check added to prevent the model from crashing mid-build.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Bug fix: results_co2_price_resolved.csv was never written (missing final row write) — now populated and includes a CO2Cap_Ton column.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Node-name fixes for the North Sea dataset.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5 — Tooling &amp;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New result-analysis tooling: scripts/plot.py, scripts/review_results.py, and notebooks results_reviewer.ipynb &amp; scenarios_comparison.ipynb.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IAMC-fixing helpers (check_iamc_mappings.py, _fix_iamc_excel.py, fix_node_names.py) and a regions geojson for mapping.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environment.yml: pinned python=3.11 and dropped the 'defaults' conda channel for reproducible setup.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config/run.yaml: new options surfaced (north_sea, aggregate_offshore_nodes_in_IAMC, use_ramping, solver_* block) with inline guidance.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Summary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Extended EMPIRE to a North Sea model with explicit offshore nodes.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Made the model robust: no crash without offshore nodes; infeasibilities are now diagnosable via IIS.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Corrected IAMC reporting for the new regions and technologies.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Accelerated the solve by attacking the real bottlenecks — crossover and a dense, badly-scaled emission-cap row — not just flag-tweaking.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Added analysis tooling and a reproducible environment for ongoing scenario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7A2B"/>
                </a:solidFill>
                <a:latin typeface="Calibri"/>
              </a:rPr>
              <a:t>Physics unchanged where it matters — changes target resolution, reporting correctness, robustness and solver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